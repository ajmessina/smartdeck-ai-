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revenue beat to set positive 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an at-a-glance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is the growth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Margin expansion from efficiency, not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transparent. Sales cycle fix underway.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challenges as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priorities are funded.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$200M ARR milestone positions us for Series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4114800"/>
            <a:ext cx="5486400" cy="5486400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705295" y="5029200"/>
            <a:ext cx="2743200" cy="2743200"/>
          </a:xfrm>
          <a:prstGeom prst="ellipse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645920"/>
            <a:ext cx="1371600" cy="5486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315200" cy="2286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Revenue Grew 18% to $45.2M, Beating Target by $3.5M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64008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0">
                <a:solidFill>
                  <a:srgbClr val="D4D4D8"/>
                </a:solidFill>
                <a:latin typeface="Calibri"/>
              </a:defRPr>
            </a:pPr>
            <a:r>
              <a:t>Q3 2024 Executive Business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669280"/>
            <a:ext cx="18288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Powered by SmartDeck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200" b="1">
                <a:solidFill>
                  <a:srgbClr val="18181B"/>
                </a:solidFill>
                <a:latin typeface="Calibri"/>
              </a:defRPr>
            </a:pPr>
            <a:r>
              <a:t>Four Key Wins Define Q3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64592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4937760" cy="20116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201168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>
                <a:solidFill>
                  <a:srgbClr val="27272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3749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>
                <a:solidFill>
                  <a:srgbClr val="27272A"/>
                </a:solidFill>
                <a:latin typeface="Calibri"/>
              </a:defRPr>
            </a:pPr>
            <a:r>
              <a:t>Revenue: $45.2M (+18% YoY), beat target by $3.5M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4937760" cy="20116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645920"/>
            <a:ext cx="73152" cy="2011680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74519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>
                <a:solidFill>
                  <a:srgbClr val="52525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3749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>
                <a:solidFill>
                  <a:srgbClr val="27272A"/>
                </a:solidFill>
                <a:latin typeface="Calibri"/>
              </a:defRPr>
            </a:pPr>
            <a:r>
              <a:t>Margins: Operating margin reached 24%, up from 19%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4937760" cy="20116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73152" cy="2011680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>
                <a:solidFill>
                  <a:srgbClr val="A1620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3749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>
                <a:solidFill>
                  <a:srgbClr val="27272A"/>
                </a:solidFill>
                <a:latin typeface="Calibri"/>
              </a:defRPr>
            </a:pPr>
            <a:r>
              <a:t>Customers: NPS hit 72, retention climbed to 96%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931920"/>
            <a:ext cx="4937760" cy="2011680"/>
          </a:xfrm>
          <a:prstGeom prst="rect">
            <a:avLst/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0" y="3931920"/>
            <a:ext cx="73152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4160520"/>
            <a:ext cx="457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160520"/>
            <a:ext cx="3749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500" b="0">
                <a:solidFill>
                  <a:srgbClr val="27272A"/>
                </a:solidFill>
                <a:latin typeface="Calibri"/>
              </a:defRPr>
            </a:pPr>
            <a:r>
              <a:t>Expansion: Launched in 3 new European markets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2/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All Key Metrics Exceeded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179978" cy="5486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$45.2M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Q3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27272A"/>
                </a:solidFill>
                <a:latin typeface="Calibri"/>
              </a:defRPr>
            </a:pPr>
            <a:r>
              <a:t>+18%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5818" y="155448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5818" y="1554480"/>
            <a:ext cx="3179978" cy="54864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82880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24%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274320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Operating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310896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27272A"/>
                </a:solidFill>
                <a:latin typeface="Calibri"/>
              </a:defRPr>
            </a:pPr>
            <a:r>
              <a:t>+5pts vs Q2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40116" y="155448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40116" y="1554480"/>
            <a:ext cx="3179978" cy="54864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4436" y="182880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436" y="274320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Customer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4436" y="310896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27272A"/>
                </a:solidFill>
                <a:latin typeface="Calibri"/>
              </a:defRPr>
            </a:pPr>
            <a:r>
              <a:t>+3pts vs Q2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3179978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0624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Net Promoter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Highest ever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85818" y="393192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85818" y="3931920"/>
            <a:ext cx="3179978" cy="54864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0138" y="420624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$42K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0138" y="512064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Avg Contract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0138" y="548640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27272A"/>
                </a:solidFill>
                <a:latin typeface="Calibri"/>
              </a:defRPr>
            </a:pPr>
            <a:r>
              <a:t>+18% YoY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40116" y="393192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40116" y="3931920"/>
            <a:ext cx="3179978" cy="54864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14436" y="420624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89%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4436" y="512064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Recurring Revenue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4436" y="548640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27272A"/>
                </a:solidFill>
                <a:latin typeface="Calibri"/>
              </a:defRPr>
            </a:pPr>
            <a:r>
              <a:t>+5pts vs Q2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3/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Enterprise Segment Drove 62% of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60120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Enterprise: $28M (+25% YoY), now 62% of total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SMB segment: $12.5M (+5% YoY), stable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New product line: $4.7M in first full quarter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Recurring revenue: 89%, up from 84%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Operational Leverage Expanded Margins 500bps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60120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Operating margin: 24% (target: 21%)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CAC efficiency: $0.42 per $1 LTV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R&amp;D shipped 3 major features vs 2 planned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G&amp;A reduced to 12% of revenue (from 15%)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5/10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 anchor="b">
            <a:no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Risks &amp;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0">
                <a:solidFill>
                  <a:srgbClr val="D4D4D8"/>
                </a:solidFill>
                <a:latin typeface="Calibri"/>
              </a:defRPr>
            </a:pPr>
            <a:r>
              <a:t>Three areas requiring strategic attention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Three Risks Require Immediate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64207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9144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>
                <a:solidFill>
                  <a:srgbClr val="27272A"/>
                </a:solidFill>
                <a:latin typeface="Calibri"/>
              </a:defRPr>
            </a:pPr>
            <a:r>
              <a:t>Competition: 2 new entrants in core market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414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9144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>
                <a:solidFill>
                  <a:srgbClr val="27272A"/>
                </a:solidFill>
                <a:latin typeface="Calibri"/>
              </a:defRPr>
            </a:pPr>
            <a:r>
              <a:t>Sales cycle: Lengthened to 47 days (+24%)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1868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9144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>
                <a:solidFill>
                  <a:srgbClr val="27272A"/>
                </a:solidFill>
                <a:latin typeface="Calibri"/>
              </a:defRPr>
            </a:pPr>
            <a:r>
              <a:t>SMB churn: 8% in &lt;$10K accounts (target: 5%)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99592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886200"/>
            <a:ext cx="9144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700" b="0">
                <a:solidFill>
                  <a:srgbClr val="27272A"/>
                </a:solidFill>
                <a:latin typeface="Calibri"/>
              </a:defRPr>
            </a:pPr>
            <a:r>
              <a:t>Hiring gap: 12 of 18 engineering hires filled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7/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Strengths Position Us to Address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1">
                <a:solidFill>
                  <a:srgbClr val="18181B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000" b="1">
                <a:solidFill>
                  <a:srgbClr val="18181B"/>
                </a:solidFill>
                <a:latin typeface="Calibri"/>
              </a:defRPr>
            </a:pPr>
            <a:r>
              <a:t>Actions Needed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463040"/>
            <a:ext cx="18288" cy="4389120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84632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Enterprise growth at 25% YoY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Best-in-class NPS of 72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Strong margins at 24%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89% recurring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Hire 5 senior AEs by Nov 1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Launch competitive response ($2M)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Implement automated SMB onboarding</a:t>
            </a:r>
          </a:p>
          <a:p>
            <a:pPr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defRPr sz="1600" b="0">
                <a:solidFill>
                  <a:srgbClr val="27272A"/>
                </a:solidFill>
                <a:latin typeface="Calibri"/>
              </a:defRPr>
            </a:pPr>
            <a:r>
              <a:t>•  Accelerate engineering hiring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8/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Five Strategic Priorities for Q4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601200" cy="4389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Double enterprise sales capacity: 5 new AEs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Launch competitive response: $2M budget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Ship AI features to widen product moat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Automate SMB onboarding to reduce churn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  <a:spcAft>
                <a:spcPts val="1400"/>
              </a:spcAft>
              <a:defRPr sz="1800" b="0">
                <a:solidFill>
                  <a:srgbClr val="27272A"/>
                </a:solidFill>
                <a:latin typeface="Calibri"/>
              </a:defRPr>
            </a:pPr>
            <a:r>
              <a:t>•  Expand partner channel: 10 new partners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91440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000" b="1">
                <a:solidFill>
                  <a:srgbClr val="18181B"/>
                </a:solidFill>
                <a:latin typeface="Calibri"/>
              </a:defRPr>
            </a:pPr>
            <a:r>
              <a:t>Q4 Targets: Path to $200M ARR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43000"/>
            <a:ext cx="13716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179978" cy="5486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$52M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Q4 Revenue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27272A"/>
                </a:solidFill>
                <a:latin typeface="Calibri"/>
              </a:defRPr>
            </a:pPr>
            <a:r>
              <a:t>+15% vs Q3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5818" y="155448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5818" y="1554480"/>
            <a:ext cx="3179978" cy="54864"/>
          </a:xfrm>
          <a:prstGeom prst="rect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0138" y="182880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$175M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138" y="274320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Full Year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0138" y="310896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vs $170M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40116" y="155448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40116" y="1554480"/>
            <a:ext cx="3179978" cy="54864"/>
          </a:xfrm>
          <a:prstGeom prst="rect">
            <a:avLst/>
          </a:prstGeom>
          <a:solidFill>
            <a:srgbClr val="A1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4436" y="182880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28%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14436" y="274320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Target Op. Margin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4436" y="310896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27272A"/>
                </a:solidFill>
                <a:latin typeface="Calibri"/>
              </a:defRPr>
            </a:pPr>
            <a:r>
              <a:t>+4pts vs Q3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179978" cy="2103120"/>
          </a:xfrm>
          <a:prstGeom prst="rect">
            <a:avLst/>
          </a:prstGeom>
          <a:solidFill>
            <a:srgbClr val="F4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3179978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06240"/>
            <a:ext cx="2631338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3600" b="1">
                <a:solidFill>
                  <a:srgbClr val="18181B"/>
                </a:solidFill>
                <a:latin typeface="Calibri"/>
              </a:defRPr>
            </a:pPr>
            <a:r>
              <a:t>$200M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2631338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71717A"/>
                </a:solidFill>
                <a:latin typeface="Calibri"/>
              </a:defRPr>
            </a:pPr>
            <a:r>
              <a:t>ARR Milestone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2631338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Calibri"/>
              </a:defRPr>
            </a:pPr>
            <a:r>
              <a:t>By Q1 2025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400800"/>
            <a:ext cx="10728655" cy="9144"/>
          </a:xfrm>
          <a:prstGeom prst="rect">
            <a:avLst/>
          </a:prstGeom>
          <a:solidFill>
            <a:srgbClr val="D4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defRPr sz="1000" b="0">
                <a:solidFill>
                  <a:srgbClr val="71717A"/>
                </a:solidFill>
                <a:latin typeface="Calibri"/>
              </a:defRPr>
            </a:pPr>
            <a:r>
              <a:t>10/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828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000" b="0">
                <a:solidFill>
                  <a:srgbClr val="71717A"/>
                </a:solidFill>
                <a:latin typeface="Calibri"/>
              </a:defRPr>
            </a:pPr>
            <a:r>
              <a:t>SmartDeck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34095" y="3657600"/>
            <a:ext cx="5486400" cy="5486400"/>
          </a:xfrm>
          <a:prstGeom prst="ellipse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743200"/>
            <a:ext cx="1828800" cy="54864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7315200" cy="1097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54864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200" b="0">
                <a:solidFill>
                  <a:srgbClr val="D4D4D8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303520"/>
            <a:ext cx="1371600" cy="36576"/>
          </a:xfrm>
          <a:prstGeom prst="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440680"/>
            <a:ext cx="2743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71717A"/>
                </a:solidFill>
                <a:latin typeface="Calibri"/>
              </a:defRPr>
            </a:pPr>
            <a:r>
              <a:t>Powered by SmartDeck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